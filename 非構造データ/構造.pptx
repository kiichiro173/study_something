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2192000" cy="6858000"/>
  <p:notesSz cx="6858000" cy="9144000"/>
  <p:embeddedFontLst>
    <p:embeddedFont>
      <p:font typeface="メイリオ" panose="020B0604030504040204" pitchFamily="50" charset="-128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1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1552" y="-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/>
          <p:nvPr/>
        </p:nvSpPr>
        <p:spPr>
          <a:xfrm>
            <a:off x="10156477" y="5710088"/>
            <a:ext cx="800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Inter"/>
                <a:sym typeface="Inter"/>
              </a:rPr>
              <a:t>User</a:t>
            </a: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矢印: 左右 10">
            <a:extLst>
              <a:ext uri="{FF2B5EF4-FFF2-40B4-BE49-F238E27FC236}">
                <a16:creationId xmlns:a16="http://schemas.microsoft.com/office/drawing/2014/main" id="{64214326-2F57-29B3-8FFE-2434253067FB}"/>
              </a:ext>
            </a:extLst>
          </p:cNvPr>
          <p:cNvSpPr/>
          <p:nvPr/>
        </p:nvSpPr>
        <p:spPr>
          <a:xfrm>
            <a:off x="5643788" y="3360418"/>
            <a:ext cx="896118" cy="381893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1DE6732-687A-F89F-723D-C6DB1489AB13}"/>
              </a:ext>
            </a:extLst>
          </p:cNvPr>
          <p:cNvSpPr txBox="1"/>
          <p:nvPr/>
        </p:nvSpPr>
        <p:spPr>
          <a:xfrm>
            <a:off x="8957796" y="3065828"/>
            <a:ext cx="8378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質問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29CCB93-0F9F-F457-78CB-7CE0395A3115}"/>
              </a:ext>
            </a:extLst>
          </p:cNvPr>
          <p:cNvSpPr txBox="1"/>
          <p:nvPr/>
        </p:nvSpPr>
        <p:spPr>
          <a:xfrm>
            <a:off x="8938545" y="3853165"/>
            <a:ext cx="8378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回答</a:t>
            </a:r>
          </a:p>
        </p:txBody>
      </p:sp>
      <p:pic>
        <p:nvPicPr>
          <p:cNvPr id="19" name="グラフィックス 18" descr="コール センター 単色塗りつぶし">
            <a:extLst>
              <a:ext uri="{FF2B5EF4-FFF2-40B4-BE49-F238E27FC236}">
                <a16:creationId xmlns:a16="http://schemas.microsoft.com/office/drawing/2014/main" id="{B9086498-DDA6-8C92-202E-74A91E798B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01436" y="3001589"/>
            <a:ext cx="914400" cy="914400"/>
          </a:xfrm>
          <a:prstGeom prst="rect">
            <a:avLst/>
          </a:prstGeom>
        </p:spPr>
      </p:pic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E5415BCB-E38A-B613-6569-9EB44E93DE44}"/>
              </a:ext>
            </a:extLst>
          </p:cNvPr>
          <p:cNvGrpSpPr/>
          <p:nvPr/>
        </p:nvGrpSpPr>
        <p:grpSpPr>
          <a:xfrm>
            <a:off x="385204" y="1294132"/>
            <a:ext cx="2102570" cy="4819972"/>
            <a:chOff x="385204" y="1306869"/>
            <a:chExt cx="2102570" cy="4819972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DFBE5963-6850-C3A6-F4A2-1C6D36B55771}"/>
                </a:ext>
              </a:extLst>
            </p:cNvPr>
            <p:cNvSpPr/>
            <p:nvPr/>
          </p:nvSpPr>
          <p:spPr>
            <a:xfrm>
              <a:off x="451694" y="1621665"/>
              <a:ext cx="1969591" cy="450517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pic>
          <p:nvPicPr>
            <p:cNvPr id="93" name="Google Shape;93;p13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61058" y="5505450"/>
              <a:ext cx="19050" cy="22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" name="Google Shape;117;p13"/>
            <p:cNvSpPr txBox="1"/>
            <p:nvPr/>
          </p:nvSpPr>
          <p:spPr>
            <a:xfrm>
              <a:off x="1024249" y="1306869"/>
              <a:ext cx="846683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Inter"/>
                  <a:sym typeface="Inter"/>
                </a:rPr>
                <a:t>Bronze </a:t>
              </a:r>
              <a:r>
                <a:rPr lang="en-US" sz="1200" b="1" i="0" u="none" strike="noStrike" cap="none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Inter Medium"/>
                  <a:sym typeface="Inter Medium"/>
                </a:rPr>
                <a:t>層</a:t>
              </a:r>
              <a:endParaRPr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pic>
          <p:nvPicPr>
            <p:cNvPr id="119" name="Google Shape;119;p13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24576" y="2610409"/>
              <a:ext cx="190500" cy="142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Google Shape;120;p13"/>
            <p:cNvSpPr txBox="1"/>
            <p:nvPr/>
          </p:nvSpPr>
          <p:spPr>
            <a:xfrm>
              <a:off x="923925" y="2442195"/>
              <a:ext cx="12934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Inter SemiBold"/>
                  <a:sym typeface="Inter SemiBold"/>
                </a:rPr>
                <a:t>GCS</a:t>
              </a:r>
              <a:r>
                <a:rPr lang="en-US" sz="1200" b="1" i="0" u="none" strike="noStrike" cap="none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Inter"/>
                  <a:sym typeface="Inter"/>
                </a:rPr>
                <a:t> Google Cloud Storage</a:t>
              </a:r>
              <a:endParaRPr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B475337C-CA89-6FE9-E8BE-1CA3BA95329A}"/>
                </a:ext>
              </a:extLst>
            </p:cNvPr>
            <p:cNvSpPr/>
            <p:nvPr/>
          </p:nvSpPr>
          <p:spPr>
            <a:xfrm>
              <a:off x="385204" y="3871838"/>
              <a:ext cx="2102570" cy="70788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GCS</a:t>
              </a:r>
              <a:r>
                <a:rPr kumimoji="1" lang="ja-JP" altLang="en-US" sz="10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等にデータを格納し、</a:t>
              </a:r>
              <a:endParaRPr kumimoji="1" lang="en-US" altLang="ja-JP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en-US" altLang="ja-JP" sz="1000" b="1" dirty="0" err="1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Eventrac</a:t>
              </a:r>
              <a:r>
                <a:rPr kumimoji="1" lang="ja-JP" altLang="en-US" sz="10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で</a:t>
              </a:r>
              <a:r>
                <a:rPr kumimoji="1" lang="en-US" altLang="ja-JP" sz="1000" b="1" dirty="0" err="1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CloudFunction</a:t>
              </a:r>
              <a:r>
                <a:rPr kumimoji="1" lang="ja-JP" altLang="en-US" sz="10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を呼び出し、</a:t>
              </a:r>
              <a:r>
                <a:rPr kumimoji="1" lang="en-US" altLang="ja-JP" sz="10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BQ</a:t>
              </a:r>
              <a:r>
                <a:rPr kumimoji="1" lang="ja-JP" altLang="en-US" sz="10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のテーブルを作成</a:t>
              </a:r>
            </a:p>
          </p:txBody>
        </p:sp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6757418E-00DB-4F94-8095-622D4412A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4576" y="2358642"/>
              <a:ext cx="1549794" cy="502893"/>
            </a:xfrm>
            <a:prstGeom prst="rect">
              <a:avLst/>
            </a:prstGeom>
          </p:spPr>
        </p:pic>
        <p:pic>
          <p:nvPicPr>
            <p:cNvPr id="26" name="図 25">
              <a:extLst>
                <a:ext uri="{FF2B5EF4-FFF2-40B4-BE49-F238E27FC236}">
                  <a16:creationId xmlns:a16="http://schemas.microsoft.com/office/drawing/2014/main" id="{D5BF4A4D-03EC-8AD4-E5CB-C0A434DBC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4249" y="3114439"/>
              <a:ext cx="635159" cy="627269"/>
            </a:xfrm>
            <a:prstGeom prst="rect">
              <a:avLst/>
            </a:prstGeom>
          </p:spPr>
        </p:pic>
      </p:grpSp>
      <p:pic>
        <p:nvPicPr>
          <p:cNvPr id="28" name="図 27">
            <a:extLst>
              <a:ext uri="{FF2B5EF4-FFF2-40B4-BE49-F238E27FC236}">
                <a16:creationId xmlns:a16="http://schemas.microsoft.com/office/drawing/2014/main" id="{E2FBD21F-4BB4-842C-FB65-B4213E2986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25252" y="2906156"/>
            <a:ext cx="935200" cy="422789"/>
          </a:xfrm>
          <a:prstGeom prst="rect">
            <a:avLst/>
          </a:prstGeom>
        </p:spPr>
      </p:pic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FAE5E35-C154-83A8-97B4-DF266B7EA0D8}"/>
              </a:ext>
            </a:extLst>
          </p:cNvPr>
          <p:cNvGrpSpPr/>
          <p:nvPr/>
        </p:nvGrpSpPr>
        <p:grpSpPr>
          <a:xfrm>
            <a:off x="3564420" y="1282603"/>
            <a:ext cx="1969591" cy="4843030"/>
            <a:chOff x="3326753" y="1281396"/>
            <a:chExt cx="1969591" cy="4843030"/>
          </a:xfrm>
        </p:grpSpPr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FFB79304-3712-375B-BB8A-490C2479ADA1}"/>
                </a:ext>
              </a:extLst>
            </p:cNvPr>
            <p:cNvSpPr/>
            <p:nvPr/>
          </p:nvSpPr>
          <p:spPr>
            <a:xfrm>
              <a:off x="3326753" y="1619250"/>
              <a:ext cx="1969591" cy="450517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4" name="Google Shape;117;p13">
              <a:extLst>
                <a:ext uri="{FF2B5EF4-FFF2-40B4-BE49-F238E27FC236}">
                  <a16:creationId xmlns:a16="http://schemas.microsoft.com/office/drawing/2014/main" id="{ABAB9318-3F1D-F9F2-0682-5074070B04D1}"/>
                </a:ext>
              </a:extLst>
            </p:cNvPr>
            <p:cNvSpPr txBox="1"/>
            <p:nvPr/>
          </p:nvSpPr>
          <p:spPr>
            <a:xfrm>
              <a:off x="3659496" y="1281396"/>
              <a:ext cx="149542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algn="ctr"/>
              <a:r>
                <a:rPr lang="en-US" altLang="ja-JP" sz="1200" b="1" dirty="0" err="1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Inter"/>
                  <a:sym typeface="Inter"/>
                </a:rPr>
                <a:t>Silve</a:t>
              </a:r>
              <a:r>
                <a:rPr lang="en-US" sz="1200" b="1" i="0" u="none" strike="noStrike" cap="none" dirty="0" err="1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Inter Medium"/>
                  <a:sym typeface="Inter Medium"/>
                </a:rPr>
                <a:t>層</a:t>
              </a:r>
              <a:r>
                <a:rPr lang="en-US" sz="1200" b="1" i="0" u="none" strike="noStrike" cap="none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Inter Medium"/>
                  <a:sym typeface="Inter Medium"/>
                </a:rPr>
                <a:t>/</a:t>
              </a:r>
              <a:r>
                <a:rPr lang="en-US" altLang="ja-JP" sz="1200" b="1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Inter"/>
                  <a:sym typeface="Inter"/>
                </a:rPr>
                <a:t>Gold </a:t>
              </a:r>
              <a:r>
                <a:rPr lang="ja-JP" altLang="en-US" sz="1200" b="1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Inter Medium"/>
                  <a:sym typeface="Inter Medium"/>
                </a:rPr>
                <a:t>層</a:t>
              </a:r>
              <a:endParaRPr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2EAB7942-E516-0841-36DD-E66421DDE932}"/>
                </a:ext>
              </a:extLst>
            </p:cNvPr>
            <p:cNvSpPr/>
            <p:nvPr/>
          </p:nvSpPr>
          <p:spPr>
            <a:xfrm>
              <a:off x="3382700" y="3717474"/>
              <a:ext cx="1857696" cy="10166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BQ</a:t>
              </a:r>
              <a:r>
                <a:rPr kumimoji="1" lang="ja-JP" altLang="en-US" sz="10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でカタログメタテーブル</a:t>
              </a:r>
              <a:r>
                <a:rPr kumimoji="1" lang="en-US" altLang="ja-JP" sz="10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/</a:t>
              </a:r>
              <a:r>
                <a:rPr kumimoji="1" lang="ja-JP" altLang="en-US" sz="10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オブジェクトテーブルを作成</a:t>
              </a:r>
              <a:endParaRPr kumimoji="1" lang="en-US" altLang="ja-JP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10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→オブジェクトテーブルとカタログテーブルを１つのビューに</a:t>
              </a:r>
            </a:p>
          </p:txBody>
        </p:sp>
        <p:pic>
          <p:nvPicPr>
            <p:cNvPr id="32" name="図 31">
              <a:extLst>
                <a:ext uri="{FF2B5EF4-FFF2-40B4-BE49-F238E27FC236}">
                  <a16:creationId xmlns:a16="http://schemas.microsoft.com/office/drawing/2014/main" id="{18DF43BE-09EA-14A1-2D56-719D5423C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493090" y="2360213"/>
              <a:ext cx="1689090" cy="641376"/>
            </a:xfrm>
            <a:prstGeom prst="rect">
              <a:avLst/>
            </a:prstGeom>
          </p:spPr>
        </p:pic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34C16CFA-2BE4-11E3-13F8-54A495FEE6B9}"/>
              </a:ext>
            </a:extLst>
          </p:cNvPr>
          <p:cNvGrpSpPr/>
          <p:nvPr/>
        </p:nvGrpSpPr>
        <p:grpSpPr>
          <a:xfrm>
            <a:off x="6610657" y="1380762"/>
            <a:ext cx="1969591" cy="4646712"/>
            <a:chOff x="6610657" y="1421084"/>
            <a:chExt cx="1969591" cy="4646712"/>
          </a:xfrm>
        </p:grpSpPr>
        <p:sp>
          <p:nvSpPr>
            <p:cNvPr id="6" name="四角形: 角を丸くする 5">
              <a:extLst>
                <a:ext uri="{FF2B5EF4-FFF2-40B4-BE49-F238E27FC236}">
                  <a16:creationId xmlns:a16="http://schemas.microsoft.com/office/drawing/2014/main" id="{D56B45DB-D69E-F08C-285F-4975E41737BF}"/>
                </a:ext>
              </a:extLst>
            </p:cNvPr>
            <p:cNvSpPr/>
            <p:nvPr/>
          </p:nvSpPr>
          <p:spPr>
            <a:xfrm>
              <a:off x="6610657" y="1650728"/>
              <a:ext cx="1969591" cy="4417068"/>
            </a:xfrm>
            <a:prstGeom prst="roundRect">
              <a:avLst/>
            </a:prstGeom>
            <a:solidFill>
              <a:srgbClr val="F2F1C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8A2A77BC-44DA-0D8A-AB18-231E687A7640}"/>
                </a:ext>
              </a:extLst>
            </p:cNvPr>
            <p:cNvSpPr/>
            <p:nvPr/>
          </p:nvSpPr>
          <p:spPr>
            <a:xfrm>
              <a:off x="6666604" y="3686868"/>
              <a:ext cx="1857696" cy="70788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Ai application AI / Agent Builder </a:t>
              </a:r>
              <a:r>
                <a:rPr kumimoji="1" lang="ja-JP" altLang="en-US" sz="10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を利用し、</a:t>
              </a:r>
              <a:endParaRPr kumimoji="1" lang="en-US" altLang="ja-JP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en-US" altLang="ja-JP" sz="10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AI</a:t>
              </a:r>
              <a:r>
                <a:rPr kumimoji="1" lang="ja-JP" altLang="en-US" sz="10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 エージェントを作成</a:t>
              </a:r>
            </a:p>
          </p:txBody>
        </p:sp>
        <p:sp>
          <p:nvSpPr>
            <p:cNvPr id="33" name="Google Shape;117;p13">
              <a:extLst>
                <a:ext uri="{FF2B5EF4-FFF2-40B4-BE49-F238E27FC236}">
                  <a16:creationId xmlns:a16="http://schemas.microsoft.com/office/drawing/2014/main" id="{9E2A1A10-E75F-1E66-6539-EDC66F12BC56}"/>
                </a:ext>
              </a:extLst>
            </p:cNvPr>
            <p:cNvSpPr txBox="1"/>
            <p:nvPr/>
          </p:nvSpPr>
          <p:spPr>
            <a:xfrm>
              <a:off x="7287607" y="1421084"/>
              <a:ext cx="4414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ja-JP" sz="1200" b="1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GUI</a:t>
              </a:r>
              <a:endParaRPr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pic>
          <p:nvPicPr>
            <p:cNvPr id="35" name="図 34">
              <a:extLst>
                <a:ext uri="{FF2B5EF4-FFF2-40B4-BE49-F238E27FC236}">
                  <a16:creationId xmlns:a16="http://schemas.microsoft.com/office/drawing/2014/main" id="{777C33AC-7DBA-8C42-E37F-92E8324F7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893880" y="2306214"/>
              <a:ext cx="1336692" cy="864918"/>
            </a:xfrm>
            <a:prstGeom prst="rect">
              <a:avLst/>
            </a:prstGeom>
          </p:spPr>
        </p:pic>
      </p:grpSp>
      <p:sp>
        <p:nvSpPr>
          <p:cNvPr id="36" name="矢印: 左右 35">
            <a:extLst>
              <a:ext uri="{FF2B5EF4-FFF2-40B4-BE49-F238E27FC236}">
                <a16:creationId xmlns:a16="http://schemas.microsoft.com/office/drawing/2014/main" id="{77393501-BEDD-589F-391D-563D32610065}"/>
              </a:ext>
            </a:extLst>
          </p:cNvPr>
          <p:cNvSpPr/>
          <p:nvPr/>
        </p:nvSpPr>
        <p:spPr>
          <a:xfrm>
            <a:off x="2544793" y="3429000"/>
            <a:ext cx="896118" cy="381893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" name="矢印: 左右 39">
            <a:extLst>
              <a:ext uri="{FF2B5EF4-FFF2-40B4-BE49-F238E27FC236}">
                <a16:creationId xmlns:a16="http://schemas.microsoft.com/office/drawing/2014/main" id="{9FC94EB3-BBAA-5D8C-AA8D-2ED8BE7DF9E6}"/>
              </a:ext>
            </a:extLst>
          </p:cNvPr>
          <p:cNvSpPr/>
          <p:nvPr/>
        </p:nvSpPr>
        <p:spPr>
          <a:xfrm>
            <a:off x="8742783" y="3394709"/>
            <a:ext cx="896118" cy="381893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64</Words>
  <Application>Microsoft Office PowerPoint</Application>
  <PresentationFormat>ワイド画面</PresentationFormat>
  <Paragraphs>13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メイリオ</vt:lpstr>
      <vt:lpstr>Calibri</vt:lpstr>
      <vt:lpstr>Office Theme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井波貴一朗</dc:creator>
  <cp:lastModifiedBy>貴一朗 井波</cp:lastModifiedBy>
  <cp:revision>3</cp:revision>
  <dcterms:modified xsi:type="dcterms:W3CDTF">2026-05-31T09:00:02Z</dcterms:modified>
</cp:coreProperties>
</file>